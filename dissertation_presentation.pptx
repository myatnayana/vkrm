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8" d="100"/>
          <a:sy n="158" d="100"/>
        </p:scale>
        <p:origin x="5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6101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94B3"/>
          </a:solidFill>
          <a:ln w="12700">
            <a:solidFill>
              <a:srgbClr val="0094B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320040" y="0"/>
            <a:ext cx="8823960" cy="73152"/>
          </a:xfrm>
          <a:prstGeom prst="rect">
            <a:avLst/>
          </a:prstGeom>
          <a:solidFill>
            <a:srgbClr val="00C0DC"/>
          </a:solidFill>
          <a:ln w="12700">
            <a:solidFill>
              <a:srgbClr val="00C0D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поведения интеллектуального агента на основе эмоционального, этического и модуля рефлексии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3154680"/>
            <a:ext cx="7863840" cy="0"/>
          </a:xfrm>
          <a:prstGeom prst="line">
            <a:avLst/>
          </a:prstGeom>
          <a:noFill/>
          <a:ln w="19050">
            <a:solidFill>
              <a:srgbClr val="0094B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Студент: Яна Стельмак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703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Специальность: 5.12.4</a:t>
            </a:r>
            <a:r>
              <a:rPr lang="ru-RU" sz="12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Когнитивное моделирование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54864" cy="502920"/>
          </a:xfrm>
          <a:prstGeom prst="rect">
            <a:avLst/>
          </a:prstGeom>
          <a:solidFill>
            <a:srgbClr val="0094B3"/>
          </a:solidFill>
          <a:ln w="12700">
            <a:solidFill>
              <a:srgbClr val="0094B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 исследования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8321040" cy="0"/>
          </a:xfrm>
          <a:prstGeom prst="line">
            <a:avLst/>
          </a:prstGeom>
          <a:noFill/>
          <a:ln w="15240">
            <a:solidFill>
              <a:srgbClr val="0094B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2651760" cy="2818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2651760" cy="502920"/>
          </a:xfrm>
          <a:prstGeom prst="rect">
            <a:avLst/>
          </a:prstGeom>
          <a:solidFill>
            <a:srgbClr val="0094B3"/>
          </a:solidFill>
          <a:ln w="12700">
            <a:solidFill>
              <a:srgbClr val="0094B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484632" y="969264"/>
            <a:ext cx="25054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Рост применения ИИ-агентов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Интеллектуальные агенты всё шире используются в здравоохранении, образовании, социальных сервисах и автономных системах, требующих взаимодействия с людьми.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27832" y="960120"/>
            <a:ext cx="2651760" cy="28188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3227832" y="960120"/>
            <a:ext cx="2651760" cy="502920"/>
          </a:xfrm>
          <a:prstGeom prst="rect">
            <a:avLst/>
          </a:prstGeom>
          <a:solidFill>
            <a:srgbClr val="0094B3"/>
          </a:solidFill>
          <a:ln w="12700">
            <a:solidFill>
              <a:srgbClr val="0094B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3300984" y="969264"/>
            <a:ext cx="25054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Разрыв между логикой и ценностями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64992" y="1572768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Большинство агентов оптимизируют целевую функцию, игнорируя эмоциональный контекст и этические нормы, что приводит к социально неприемлемым решениям.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44184" y="960120"/>
            <a:ext cx="2651760" cy="2818857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6044184" y="960120"/>
            <a:ext cx="2651760" cy="502920"/>
          </a:xfrm>
          <a:prstGeom prst="rect">
            <a:avLst/>
          </a:prstGeom>
          <a:solidFill>
            <a:srgbClr val="0094B3"/>
          </a:solidFill>
          <a:ln w="12700">
            <a:solidFill>
              <a:srgbClr val="0094B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6117336" y="969264"/>
            <a:ext cx="25054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Отсутствие механизма рефлексии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81344" y="1572768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Существующие подходы не предусматривают </a:t>
            </a:r>
            <a:r>
              <a:rPr lang="en-US" sz="1200" dirty="0" err="1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самоанализа</a:t>
            </a:r>
            <a:r>
              <a:rPr lang="en-US" sz="120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агента</a:t>
            </a:r>
            <a:r>
              <a:rPr lang="ru-RU" sz="120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20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невозможно</a:t>
            </a:r>
            <a:r>
              <a:rPr lang="ru-RU" sz="1200" dirty="0" err="1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сть</a:t>
            </a:r>
            <a:r>
              <a:rPr lang="en-US" sz="120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переоценить принятое решение </a:t>
            </a:r>
            <a:r>
              <a:rPr lang="en-US" sz="1200" dirty="0" err="1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делает</a:t>
            </a:r>
            <a:r>
              <a:rPr lang="en-US" sz="120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поведение</a:t>
            </a:r>
            <a:r>
              <a:rPr lang="en-US" sz="120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предсказуемым</a:t>
            </a:r>
            <a:r>
              <a:rPr lang="en-US" sz="120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20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</a:t>
            </a:r>
            <a:r>
              <a:rPr lang="ru-RU" sz="1200" dirty="0" err="1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нечеловекоподобным</a:t>
            </a:r>
            <a:r>
              <a:rPr lang="en-US" sz="120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" y="3934423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006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Вывод: необходима единая архитектура, объединяющая эмоциональную, этическую и рефлексивную подсистемы в алгоритме поведения агента.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54864" cy="502920"/>
          </a:xfrm>
          <a:prstGeom prst="rect">
            <a:avLst/>
          </a:prstGeom>
          <a:solidFill>
            <a:srgbClr val="0094B3"/>
          </a:solidFill>
          <a:ln w="12700">
            <a:solidFill>
              <a:srgbClr val="0094B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Соответствие научной специальности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8321040" cy="0"/>
          </a:xfrm>
          <a:prstGeom prst="line">
            <a:avLst/>
          </a:prstGeom>
          <a:noFill/>
          <a:ln w="15240">
            <a:solidFill>
              <a:srgbClr val="0094B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39319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3931920" cy="457200"/>
          </a:xfrm>
          <a:prstGeom prst="rect">
            <a:avLst/>
          </a:prstGeom>
          <a:solidFill>
            <a:srgbClr val="0094B3"/>
          </a:solidFill>
          <a:ln w="12700">
            <a:solidFill>
              <a:srgbClr val="0094B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530352" y="1005840"/>
            <a:ext cx="3694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Научная специальность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9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ru-RU" sz="120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5.12.4 – Когнитивное моделирование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31343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9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Область: </a:t>
            </a:r>
            <a:r>
              <a:rPr lang="ru-RU" sz="120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математическое и компьютерное моделирование когнитивных процессов, поведения агентов и принятия решений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118104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9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ru-RU" sz="120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Направление: разработка вычислительных моделей эмоций, этики и рефлексии на основе нечёткого </a:t>
            </a:r>
            <a:r>
              <a:rPr lang="en-US" sz="120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TSK-</a:t>
            </a:r>
            <a:r>
              <a:rPr lang="ru-RU" sz="120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960120"/>
            <a:ext cx="41605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4572000" y="960120"/>
            <a:ext cx="4160520" cy="457200"/>
          </a:xfrm>
          <a:prstGeom prst="rect">
            <a:avLst/>
          </a:prstGeom>
          <a:solidFill>
            <a:srgbClr val="006D8A"/>
          </a:solidFill>
          <a:ln w="12700">
            <a:solidFill>
              <a:srgbClr val="006D8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4681728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Место в научном пространстве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09160" y="15087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Аффективные вычисления (Affective Computing)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09160" y="225856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Этика искусственного интеллекта (AI Ethics)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3008376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Агентные системы и BDI-архитектуры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9160" y="3758184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Нечёткая логика и TSK-системы вывода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54864" cy="502920"/>
          </a:xfrm>
          <a:prstGeom prst="rect">
            <a:avLst/>
          </a:prstGeom>
          <a:solidFill>
            <a:srgbClr val="0094B3"/>
          </a:solidFill>
          <a:ln w="12700">
            <a:solidFill>
              <a:srgbClr val="0094B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 и предмет исследования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8321040" cy="0"/>
          </a:xfrm>
          <a:prstGeom prst="line">
            <a:avLst/>
          </a:prstGeom>
          <a:noFill/>
          <a:ln w="15240">
            <a:solidFill>
              <a:srgbClr val="0094B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64008" cy="3566160"/>
          </a:xfrm>
          <a:prstGeom prst="rect">
            <a:avLst/>
          </a:prstGeom>
          <a:solidFill>
            <a:srgbClr val="0094B3"/>
          </a:solidFill>
          <a:ln w="12700">
            <a:solidFill>
              <a:srgbClr val="0094B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59436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9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 ИССЛЕДОВАНИЯ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Интеллектуальный агент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2011680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B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Автономная программная система, перемещающаяся по сценарной сети (графу состояний и переходов), воспринимающая внешние условия и принимающая поведенческие решения на каждом шаге навигации.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41605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4572000" y="1005840"/>
            <a:ext cx="64008" cy="3566160"/>
          </a:xfrm>
          <a:prstGeom prst="rect">
            <a:avLst/>
          </a:prstGeom>
          <a:solidFill>
            <a:srgbClr val="00C0DC"/>
          </a:solidFill>
          <a:ln w="12700">
            <a:solidFill>
              <a:srgbClr val="00C0D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475488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6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ПРЕДМЕТ ИССЛЕДОВАНИЯ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15087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принятия решений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54880" y="201168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B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Интегрированный алгоритм выбора переходов на основе </a:t>
            </a:r>
            <a:r>
              <a:rPr lang="en-US" sz="1300" dirty="0" err="1">
                <a:solidFill>
                  <a:srgbClr val="3B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трёх</a:t>
            </a:r>
            <a:r>
              <a:rPr lang="en-US" sz="1300" dirty="0">
                <a:solidFill>
                  <a:srgbClr val="3B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B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подсистем</a:t>
            </a:r>
            <a:r>
              <a:rPr lang="ru-RU" sz="1300" dirty="0">
                <a:solidFill>
                  <a:srgbClr val="3B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</a:t>
            </a:r>
            <a:r>
              <a:rPr lang="en-US" sz="1300" dirty="0">
                <a:solidFill>
                  <a:srgbClr val="3B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эмоциональной (Geneva Emotion Wheel, 20 эмоций), этической (7 переменных, иерархия приоритетов) и рефлексивного модуля </a:t>
            </a:r>
            <a:r>
              <a:rPr lang="en-US" sz="1300" dirty="0" err="1">
                <a:solidFill>
                  <a:srgbClr val="3B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самооценки</a:t>
            </a:r>
            <a:r>
              <a:rPr lang="en-US" sz="1300" dirty="0">
                <a:solidFill>
                  <a:srgbClr val="3B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300" dirty="0">
                <a:solidFill>
                  <a:srgbClr val="3B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основе теории С. Анисимовой,</a:t>
            </a:r>
            <a:r>
              <a:rPr lang="en-US" sz="1300" dirty="0">
                <a:solidFill>
                  <a:srgbClr val="3B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B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реализованны</a:t>
            </a:r>
            <a:r>
              <a:rPr lang="ru-RU" sz="1300" dirty="0">
                <a:solidFill>
                  <a:srgbClr val="3B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</a:t>
            </a:r>
            <a:r>
              <a:rPr lang="en-US" sz="1300" dirty="0">
                <a:solidFill>
                  <a:srgbClr val="3B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 помощью TSK-нечёткого вывода.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6577"/>
            <a:ext cx="320040" cy="5143500"/>
          </a:xfrm>
          <a:prstGeom prst="rect">
            <a:avLst/>
          </a:prstGeom>
          <a:solidFill>
            <a:srgbClr val="0094B3"/>
          </a:solidFill>
          <a:ln w="12700">
            <a:solidFill>
              <a:srgbClr val="0094B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00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 ИССЛЕДОВАНИЯ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046720" cy="3544312"/>
          </a:xfrm>
          <a:prstGeom prst="rect">
            <a:avLst/>
          </a:prstGeom>
          <a:solidFill>
            <a:srgbClr val="122540"/>
          </a:solidFill>
          <a:ln w="19050">
            <a:solidFill>
              <a:srgbClr val="0094B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777240" y="1383030"/>
            <a:ext cx="7589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"Если интеллектуальный агент при выборе действия учитывает отклонения по эмоциональным и этическим характеристикам и корректирует свой профиль через механизм рефлексии, то его поведение будет более адаптивным, </a:t>
            </a:r>
            <a:r>
              <a:rPr lang="en-US" sz="17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социально</a:t>
            </a: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приемлемым</a:t>
            </a:r>
            <a:r>
              <a:rPr lang="ru-RU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но</a:t>
            </a: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временами не</a:t>
            </a:r>
            <a:r>
              <a:rPr lang="en-US" sz="17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предсказуемым</a:t>
            </a: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 сравнению с агентами, использующими исключительно логические или оптимизационные подходы."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54864" cy="502920"/>
          </a:xfrm>
          <a:prstGeom prst="rect">
            <a:avLst/>
          </a:prstGeom>
          <a:solidFill>
            <a:srgbClr val="0094B3"/>
          </a:solidFill>
          <a:ln w="12700">
            <a:solidFill>
              <a:srgbClr val="0094B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существующих подходов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8321040" cy="0"/>
          </a:xfrm>
          <a:prstGeom prst="line">
            <a:avLst/>
          </a:prstGeom>
          <a:noFill/>
          <a:ln w="15240">
            <a:solidFill>
              <a:srgbClr val="0094B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8321040" cy="384048"/>
          </a:xfrm>
          <a:prstGeom prst="rect">
            <a:avLst/>
          </a:prstGeom>
          <a:solidFill>
            <a:srgbClr val="0094B3"/>
          </a:solidFill>
          <a:ln w="12700">
            <a:solidFill>
              <a:srgbClr val="0094B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02920" y="10058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Подход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46120" y="10058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Достоинство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89320" y="10058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Ограничение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371600"/>
            <a:ext cx="8321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502920" y="1408176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6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BDI-агенты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46120" y="1408176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Формальная модель целей и намерений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89320" y="1408176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Нет эмоциональной/этической оценки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121408"/>
            <a:ext cx="8321040" cy="713232"/>
          </a:xfrm>
          <a:prstGeom prst="rect">
            <a:avLst/>
          </a:prstGeom>
          <a:solidFill>
            <a:srgbClr val="E8F4F8"/>
          </a:solidFill>
          <a:ln w="6350">
            <a:solidFill>
              <a:srgbClr val="DDE6E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502920" y="2157984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6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Аффективные вычисления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46120" y="2157984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Учёт эмоций пользователя и агента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89320" y="2157984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Этика и рефлексия вне области модели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2871216"/>
            <a:ext cx="8321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502920" y="290779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6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Этика в ИИ (RLHF, правила)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46120" y="290779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Встраивание ценностных ограничений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89320" y="290779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Статичны, не адаптируются к контексту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3621024"/>
            <a:ext cx="8321040" cy="713232"/>
          </a:xfrm>
          <a:prstGeom prst="rect">
            <a:avLst/>
          </a:prstGeom>
          <a:solidFill>
            <a:srgbClr val="E8F4F8"/>
          </a:solidFill>
          <a:ln w="6350">
            <a:solidFill>
              <a:srgbClr val="DDE6E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502920" y="36576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6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Нечёткие агентные системы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46120" y="36576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Гибкость при неопределённости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89320" y="36576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Редко сочетают эмоции и этику вместе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4407408"/>
            <a:ext cx="8321040" cy="502920"/>
          </a:xfrm>
          <a:prstGeom prst="rect">
            <a:avLst/>
          </a:prstGeom>
          <a:solidFill>
            <a:srgbClr val="0094B3"/>
          </a:solidFill>
          <a:ln w="12700">
            <a:solidFill>
              <a:srgbClr val="0094B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548640" y="44531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Научная лакуна: ни один из подходов не объединяет эмоциональную, этическую подсистемы и рефлексию в едином динамическом алгоритме на основе нечёткого вывода.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54864" cy="502920"/>
          </a:xfrm>
          <a:prstGeom prst="rect">
            <a:avLst/>
          </a:prstGeom>
          <a:solidFill>
            <a:srgbClr val="0094B3"/>
          </a:solidFill>
          <a:ln w="12700">
            <a:solidFill>
              <a:srgbClr val="0094B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и задачи исследования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8321040" cy="0"/>
          </a:xfrm>
          <a:prstGeom prst="line">
            <a:avLst/>
          </a:prstGeom>
          <a:noFill/>
          <a:ln w="15240">
            <a:solidFill>
              <a:srgbClr val="0094B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8321040" cy="658368"/>
          </a:xfrm>
          <a:prstGeom prst="rect">
            <a:avLst/>
          </a:prstGeom>
          <a:solidFill>
            <a:srgbClr val="0094B3"/>
          </a:solidFill>
          <a:ln w="12700">
            <a:solidFill>
              <a:srgbClr val="0094B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Цель: разработать и программно реализовать алгоритм поведения интеллектуального агента, объединяющий эмоциональную, этическую подсистемы и модуль рефлексии на основе нечёткого TSK-вывода.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1480" y="1719072"/>
            <a:ext cx="420624" cy="420624"/>
          </a:xfrm>
          <a:prstGeom prst="rect">
            <a:avLst/>
          </a:prstGeom>
          <a:solidFill>
            <a:srgbClr val="0094B3"/>
          </a:solidFill>
          <a:ln w="12700">
            <a:solidFill>
              <a:srgbClr val="0094B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411480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7373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Провести систематический анализ подходов к моделированию поведения интеллектуальных агентов.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" y="2249424"/>
            <a:ext cx="420624" cy="420624"/>
          </a:xfrm>
          <a:prstGeom prst="rect">
            <a:avLst/>
          </a:prstGeom>
          <a:solidFill>
            <a:srgbClr val="0094B3"/>
          </a:solidFill>
          <a:ln w="12700">
            <a:solidFill>
              <a:srgbClr val="0094B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411480" y="22494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226771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Разработать эмоциональную подсистему на основе колеса эмоций Женевы (20 эмоций, TSK-правила).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11480" y="2779776"/>
            <a:ext cx="420624" cy="420624"/>
          </a:xfrm>
          <a:prstGeom prst="rect">
            <a:avLst/>
          </a:prstGeom>
          <a:solidFill>
            <a:srgbClr val="0094B3"/>
          </a:solidFill>
          <a:ln w="12700">
            <a:solidFill>
              <a:srgbClr val="0094B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411480" y="2779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2798064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Разработать этическую подсистему с 7 переменными и иерархией приоритетов (3 уровня).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11480" y="3310128"/>
            <a:ext cx="420624" cy="420624"/>
          </a:xfrm>
          <a:prstGeom prst="rect">
            <a:avLst/>
          </a:prstGeom>
          <a:solidFill>
            <a:srgbClr val="006D8A"/>
          </a:solidFill>
          <a:ln w="12700">
            <a:solidFill>
              <a:srgbClr val="0094B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411480" y="3310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328416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Спроектировать модуль рефлексии для самооценки и коррекции профиля агента.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11480" y="3840480"/>
            <a:ext cx="420624" cy="420624"/>
          </a:xfrm>
          <a:prstGeom prst="rect">
            <a:avLst/>
          </a:prstGeom>
          <a:solidFill>
            <a:srgbClr val="006D8A"/>
          </a:solidFill>
          <a:ln w="12700">
            <a:solidFill>
              <a:srgbClr val="0094B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411480" y="3840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385876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 навигатор агента по сценарной сети на основе графовой СУБД Neo4j.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11480" y="4370832"/>
            <a:ext cx="420624" cy="420624"/>
          </a:xfrm>
          <a:prstGeom prst="rect">
            <a:avLst/>
          </a:prstGeom>
          <a:solidFill>
            <a:srgbClr val="006D8A"/>
          </a:solidFill>
          <a:ln w="12700">
            <a:solidFill>
              <a:srgbClr val="0094B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411480" y="4370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0120" y="43891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Провести экспериментальную апробацию на тестовых сценариях и оценить качество поведения.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54864" cy="502920"/>
          </a:xfrm>
          <a:prstGeom prst="rect">
            <a:avLst/>
          </a:prstGeom>
          <a:solidFill>
            <a:srgbClr val="0094B3"/>
          </a:solidFill>
          <a:ln w="12700">
            <a:solidFill>
              <a:srgbClr val="0094B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Методология и теоретическое обоснование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8321040" cy="0"/>
          </a:xfrm>
          <a:prstGeom prst="line">
            <a:avLst/>
          </a:prstGeom>
          <a:noFill/>
          <a:ln w="15240">
            <a:solidFill>
              <a:srgbClr val="0094B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406908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566928" cy="1810512"/>
          </a:xfrm>
          <a:prstGeom prst="rect">
            <a:avLst/>
          </a:prstGeom>
          <a:solidFill>
            <a:srgbClr val="0094B3"/>
          </a:solidFill>
          <a:ln w="12700">
            <a:solidFill>
              <a:srgbClr val="0094B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566928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9848" y="11155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TSK-нечёткий вывод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9848" y="1481328"/>
            <a:ext cx="32918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B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Такаги–Сугено–Канг: треугольные функции принадлежности Tri(a,b,c), активация правила w = min(μ(peak)), следствие y = p₀ + p₁·peak. Позволяет непрерывно вычислять отклонения и дельты состояния.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06908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566928" cy="1810512"/>
          </a:xfrm>
          <a:prstGeom prst="rect">
            <a:avLst/>
          </a:prstGeom>
          <a:solidFill>
            <a:srgbClr val="0094B3"/>
          </a:solidFill>
          <a:ln w="12700">
            <a:solidFill>
              <a:srgbClr val="0094B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4663440" y="1005840"/>
            <a:ext cx="566928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21808" y="11155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Geneva Emotion Wheel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21808" y="1481328"/>
            <a:ext cx="32918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B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базовых эмоций с лингвистическими термами {low, medium, high}. Каждая эмоция — треугольная ФП; ~20 TSK-правил описывают взаимодействие и динамику эмоционального состояния агента.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944368"/>
            <a:ext cx="406908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411480" y="2944368"/>
            <a:ext cx="566928" cy="1810512"/>
          </a:xfrm>
          <a:prstGeom prst="rect">
            <a:avLst/>
          </a:prstGeom>
          <a:solidFill>
            <a:srgbClr val="0094B3"/>
          </a:solidFill>
          <a:ln w="12700">
            <a:solidFill>
              <a:srgbClr val="0094B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411480" y="2944368"/>
            <a:ext cx="566928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69848" y="305409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 сценариев (Neo4j)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69848" y="3419856"/>
            <a:ext cx="32918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B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Состояния (:State) и переходы (:TRANSITION) с условиями cond_em_*/cond_eth_* и обновлениями update_em_*/update_eth_*. Агент выбирает ребро с минимальным суммарным отклонением ΣΔE.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944368"/>
            <a:ext cx="406908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4663440" y="2944368"/>
            <a:ext cx="566928" cy="1810512"/>
          </a:xfrm>
          <a:prstGeom prst="rect">
            <a:avLst/>
          </a:prstGeom>
          <a:solidFill>
            <a:srgbClr val="0094B3"/>
          </a:solidFill>
          <a:ln w="12700">
            <a:solidFill>
              <a:srgbClr val="0094B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4663440" y="2944368"/>
            <a:ext cx="566928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21808" y="305409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Иерархия этических приоритетов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1808" y="3419856"/>
            <a:ext cx="32918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B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этических переменных (ответственность, доброта, совесть и др.), 10 TSK-правил с весами приоритетов: P1=2.0 (высший), P2=1.5 (средний), P3=1.0 (базовый).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54864" cy="502920"/>
          </a:xfrm>
          <a:prstGeom prst="rect">
            <a:avLst/>
          </a:prstGeom>
          <a:solidFill>
            <a:srgbClr val="0094B3"/>
          </a:solidFill>
          <a:ln w="12700">
            <a:solidFill>
              <a:srgbClr val="0094B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системы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8321040" cy="0"/>
          </a:xfrm>
          <a:prstGeom prst="line">
            <a:avLst/>
          </a:prstGeom>
          <a:noFill/>
          <a:ln w="15240">
            <a:solidFill>
              <a:srgbClr val="0094B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3200400" y="1920240"/>
            <a:ext cx="2743200" cy="1097280"/>
          </a:xfrm>
          <a:prstGeom prst="rect">
            <a:avLst/>
          </a:prstGeom>
          <a:solidFill>
            <a:srgbClr val="0094B3"/>
          </a:solidFill>
          <a:ln w="12700">
            <a:solidFill>
              <a:srgbClr val="0094B3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3200400" y="1920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AgentNavigator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2423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перехода с min ΣΔE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2651760" cy="1234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457200" y="153619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Эмоциональная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подсистема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03911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эмоций GEW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TSK-правил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Tri(a,b,c)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3429000"/>
            <a:ext cx="2651760" cy="1234440"/>
          </a:xfrm>
          <a:prstGeom prst="rect">
            <a:avLst/>
          </a:prstGeom>
          <a:solidFill>
            <a:srgbClr val="00737A"/>
          </a:solidFill>
          <a:ln w="12700">
            <a:solidFill>
              <a:srgbClr val="00737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3291840" y="35021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рефлексии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400507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Самооценка профиля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Коррекция Tri-параметров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463040"/>
            <a:ext cx="2651760" cy="1234440"/>
          </a:xfrm>
          <a:prstGeom prst="rect">
            <a:avLst/>
          </a:prstGeom>
          <a:solidFill>
            <a:srgbClr val="0D5E6E"/>
          </a:solidFill>
          <a:ln w="12700">
            <a:solidFill>
              <a:srgbClr val="0D5E6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6126480" y="153619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Этическая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подсистема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0" y="203911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этик, 10 правил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Иерархия P1/P2/P3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896112"/>
            <a:ext cx="2743200" cy="804672"/>
          </a:xfrm>
          <a:prstGeom prst="rect">
            <a:avLst/>
          </a:prstGeom>
          <a:solidFill>
            <a:srgbClr val="1E3A50"/>
          </a:solidFill>
          <a:ln w="19050">
            <a:solidFill>
              <a:srgbClr val="00C0D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3200400" y="9144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— Граф сценариев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12984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(:State)-[:TRANSITION]-&gt;(next)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1700784"/>
            <a:ext cx="0" cy="219456"/>
          </a:xfrm>
          <a:prstGeom prst="line">
            <a:avLst/>
          </a:prstGeom>
          <a:noFill/>
          <a:ln w="19050">
            <a:solidFill>
              <a:srgbClr val="00C0D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3017520" y="2468880"/>
            <a:ext cx="182880" cy="0"/>
          </a:xfrm>
          <a:prstGeom prst="line">
            <a:avLst/>
          </a:prstGeom>
          <a:noFill/>
          <a:ln w="19050">
            <a:solidFill>
              <a:srgbClr val="0094B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Shape 20"/>
          <p:cNvSpPr/>
          <p:nvPr/>
        </p:nvSpPr>
        <p:spPr>
          <a:xfrm>
            <a:off x="5943600" y="2468880"/>
            <a:ext cx="182880" cy="0"/>
          </a:xfrm>
          <a:prstGeom prst="line">
            <a:avLst/>
          </a:prstGeom>
          <a:noFill/>
          <a:ln w="19050">
            <a:solidFill>
              <a:srgbClr val="0094B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4572000" y="3017520"/>
            <a:ext cx="0" cy="411480"/>
          </a:xfrm>
          <a:prstGeom prst="line">
            <a:avLst/>
          </a:prstGeom>
          <a:noFill/>
          <a:ln w="19050">
            <a:solidFill>
              <a:srgbClr val="0094B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411480" y="47091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Поток: Neo4j передаёт рёбра → агент вычисляет суммарное отклонение → выбирает минимум → модуль рефлексии корректирует профиль.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54864" cy="502920"/>
          </a:xfrm>
          <a:prstGeom prst="rect">
            <a:avLst/>
          </a:prstGeom>
          <a:solidFill>
            <a:srgbClr val="0094B3"/>
          </a:solidFill>
          <a:ln w="12700">
            <a:solidFill>
              <a:srgbClr val="0094B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Планируемые направления публикаций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8321040" cy="0"/>
          </a:xfrm>
          <a:prstGeom prst="line">
            <a:avLst/>
          </a:prstGeom>
          <a:noFill/>
          <a:ln w="15240">
            <a:solidFill>
              <a:srgbClr val="0094B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83210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411480" y="987552"/>
            <a:ext cx="502920" cy="896112"/>
          </a:xfrm>
          <a:prstGeom prst="rect">
            <a:avLst/>
          </a:prstGeom>
          <a:solidFill>
            <a:srgbClr val="0094B3"/>
          </a:solidFill>
          <a:ln w="12700">
            <a:solidFill>
              <a:srgbClr val="0094B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411480" y="987552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903720" y="1115568"/>
            <a:ext cx="1645920" cy="256032"/>
          </a:xfrm>
          <a:prstGeom prst="rect">
            <a:avLst/>
          </a:prstGeom>
          <a:solidFill>
            <a:srgbClr val="E8F4F8"/>
          </a:solidFill>
          <a:ln w="10160">
            <a:solidFill>
              <a:srgbClr val="0094B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6903720" y="11155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6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Обзорная статья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24128" y="1060704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 подходов к эмоциональному и этическому моделированию ИИ-агентов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24128" y="1444752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B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Систематический обзор BDI, аффективных и этических методов; выявление лакуны для интегрированного алгоритма.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1975104"/>
            <a:ext cx="83210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411480" y="1975104"/>
            <a:ext cx="502920" cy="896112"/>
          </a:xfrm>
          <a:prstGeom prst="rect">
            <a:avLst/>
          </a:prstGeom>
          <a:solidFill>
            <a:srgbClr val="0094B3"/>
          </a:solidFill>
          <a:ln w="12700">
            <a:solidFill>
              <a:srgbClr val="0094B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411480" y="1975104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903720" y="2103120"/>
            <a:ext cx="1645920" cy="256032"/>
          </a:xfrm>
          <a:prstGeom prst="rect">
            <a:avLst/>
          </a:prstGeom>
          <a:solidFill>
            <a:srgbClr val="E8F4F8"/>
          </a:solidFill>
          <a:ln w="10160">
            <a:solidFill>
              <a:srgbClr val="0094B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6903720" y="21031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6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Методическая статья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24128" y="2048256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TSK-нечёткая модель эмоционального состояния агента на основе GEW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24128" y="2432304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B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Формализация 20 эмоций, описание правил, верификация на модельных данных.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2962656"/>
            <a:ext cx="83210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0" name="Shape 18"/>
          <p:cNvSpPr/>
          <p:nvPr/>
        </p:nvSpPr>
        <p:spPr>
          <a:xfrm>
            <a:off x="411480" y="2962656"/>
            <a:ext cx="502920" cy="896112"/>
          </a:xfrm>
          <a:prstGeom prst="rect">
            <a:avLst/>
          </a:prstGeom>
          <a:solidFill>
            <a:srgbClr val="0094B3"/>
          </a:solidFill>
          <a:ln w="12700">
            <a:solidFill>
              <a:srgbClr val="0094B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411480" y="2962656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903720" y="3090672"/>
            <a:ext cx="1645920" cy="256032"/>
          </a:xfrm>
          <a:prstGeom prst="rect">
            <a:avLst/>
          </a:prstGeom>
          <a:solidFill>
            <a:srgbClr val="E8F4F8"/>
          </a:solidFill>
          <a:ln w="10160">
            <a:solidFill>
              <a:srgbClr val="0094B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6903720" y="30906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6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Исследовательская статья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24128" y="3035808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Этическая подсистема с иерархией приоритетов для интеллектуального агента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24128" y="3419856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B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Описание 7 этических переменных, 10 TSK-правил с весами P1–P3, экспериментальная оценка.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" y="3950208"/>
            <a:ext cx="83210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7" name="Shape 25"/>
          <p:cNvSpPr/>
          <p:nvPr/>
        </p:nvSpPr>
        <p:spPr>
          <a:xfrm>
            <a:off x="411480" y="3950208"/>
            <a:ext cx="502920" cy="896112"/>
          </a:xfrm>
          <a:prstGeom prst="rect">
            <a:avLst/>
          </a:prstGeom>
          <a:solidFill>
            <a:srgbClr val="0094B3"/>
          </a:solidFill>
          <a:ln w="12700">
            <a:solidFill>
              <a:srgbClr val="0094B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411480" y="3950208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903720" y="4078224"/>
            <a:ext cx="1645920" cy="256032"/>
          </a:xfrm>
          <a:prstGeom prst="rect">
            <a:avLst/>
          </a:prstGeom>
          <a:solidFill>
            <a:srgbClr val="E8F4F8"/>
          </a:solidFill>
          <a:ln w="10160">
            <a:solidFill>
              <a:srgbClr val="0094B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6903720" y="40782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6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Прикладная статья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24128" y="402336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навигации по сценарной сети с рефлексивным модулем (Neo4j)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024128" y="4407408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B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архитектура, программная реализация, сравнение с базовыми подходами на тестовых сценариях.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54864" cy="502920"/>
          </a:xfrm>
          <a:prstGeom prst="rect">
            <a:avLst/>
          </a:prstGeom>
          <a:solidFill>
            <a:srgbClr val="0094B3"/>
          </a:solidFill>
          <a:ln w="12700">
            <a:solidFill>
              <a:srgbClr val="0094B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Ожидаемые результаты и научная новизна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8321040" cy="0"/>
          </a:xfrm>
          <a:prstGeom prst="line">
            <a:avLst/>
          </a:prstGeom>
          <a:noFill/>
          <a:ln w="15240">
            <a:solidFill>
              <a:srgbClr val="0094B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40690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4069080" cy="438912"/>
          </a:xfrm>
          <a:prstGeom prst="rect">
            <a:avLst/>
          </a:prstGeom>
          <a:solidFill>
            <a:srgbClr val="0094B3"/>
          </a:solidFill>
          <a:ln w="12700">
            <a:solidFill>
              <a:srgbClr val="0094B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530352" y="1005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Ожидаемые результаты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9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Программная реализация трёх взаимосвязанных модулей (эмоции, этика, рефлексия)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167128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9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Формализованная база TSK-правил для двух подсистем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825496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9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Готовая сценарная сеть в Neo4j с условиями и обновлениями рёбер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483864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9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Streamlit-приложение для визуализации поведения агента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142232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9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 экспериментального сравнения с базовыми алгоритмами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960120"/>
            <a:ext cx="40690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4663440" y="960120"/>
            <a:ext cx="4069080" cy="438912"/>
          </a:xfrm>
          <a:prstGeom prst="rect">
            <a:avLst/>
          </a:prstGeom>
          <a:solidFill>
            <a:srgbClr val="006D8A"/>
          </a:solidFill>
          <a:ln w="12700">
            <a:solidFill>
              <a:srgbClr val="006D8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4782312" y="1005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Научная новизна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150876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r>
              <a:rPr lang="en-US" sz="120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Впервые предложена архитектура, одновременно интегрирующая TSK-эмоции, TSK-этику и рефлексию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2313432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r>
              <a:rPr lang="en-US" sz="120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Введена иерархия этических приоритетов с дифференцированными весами (P1–P3)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3118104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r>
              <a:rPr lang="en-US" sz="120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Разработан механизм сдвига треугольных ФП как инструмент динамической адаптации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3922776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r>
              <a:rPr lang="en-US" sz="120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Критерий минимизации ΣΔE = ΔE_em + ΔE_eth для выбора перехода сформулирован впервые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94B3"/>
          </a:solidFill>
          <a:ln w="12700">
            <a:solidFill>
              <a:srgbClr val="0094B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ЗАКЛЮЧЕНИЕ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8229600" cy="749808"/>
          </a:xfrm>
          <a:prstGeom prst="rect">
            <a:avLst/>
          </a:prstGeom>
          <a:solidFill>
            <a:srgbClr val="122540"/>
          </a:solidFill>
          <a:ln w="10160">
            <a:solidFill>
              <a:srgbClr val="006D8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658368" y="923544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48840" y="923544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поведения интеллектуального агента на основе эмоциональной, этической подсистем и модуля рефлексии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8229600" cy="749808"/>
          </a:xfrm>
          <a:prstGeom prst="rect">
            <a:avLst/>
          </a:prstGeom>
          <a:solidFill>
            <a:srgbClr val="122540"/>
          </a:solidFill>
          <a:ln w="10160">
            <a:solidFill>
              <a:srgbClr val="006D8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658368" y="1746504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48840" y="1746504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Агенты нового поколения требуют баланса между эффективностью, социальными нормами и гибкостью поведения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8229600" cy="749808"/>
          </a:xfrm>
          <a:prstGeom prst="rect">
            <a:avLst/>
          </a:prstGeom>
          <a:solidFill>
            <a:srgbClr val="122540"/>
          </a:solidFill>
          <a:ln w="10160">
            <a:solidFill>
              <a:srgbClr val="006D8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658368" y="2569464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48840" y="2569464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TSK-нечёткий вывод, Geneva Emotion Wheel, граф сценариев Neo4j, иерархия этических приоритетов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8229600" cy="749808"/>
          </a:xfrm>
          <a:prstGeom prst="rect">
            <a:avLst/>
          </a:prstGeom>
          <a:solidFill>
            <a:srgbClr val="122540"/>
          </a:solidFill>
          <a:ln w="10160">
            <a:solidFill>
              <a:srgbClr val="006D8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658368" y="3392424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Новизна: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48840" y="3392424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трёх подсистем в единый динамический алгоритм с критерием min ΣΔE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8229600" cy="749808"/>
          </a:xfrm>
          <a:prstGeom prst="rect">
            <a:avLst/>
          </a:prstGeom>
          <a:solidFill>
            <a:srgbClr val="122540"/>
          </a:solidFill>
          <a:ln w="10160">
            <a:solidFill>
              <a:srgbClr val="006D8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658368" y="4215384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Перспективы: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48840" y="4215384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направления публикаций, экспериментальная апробация, применение в диалоговых системах и игровых агентах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1051</Words>
  <Application>Microsoft Macintosh PowerPoint</Application>
  <PresentationFormat>Экран (16:9)</PresentationFormat>
  <Paragraphs>144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Алгоритм поведения интеллектуального агента</dc:title>
  <dc:subject>PptxGenJS Presentation</dc:subject>
  <dc:creator>Яна Стельмак</dc:creator>
  <cp:lastModifiedBy>Яна Стельмах</cp:lastModifiedBy>
  <cp:revision>4</cp:revision>
  <dcterms:created xsi:type="dcterms:W3CDTF">2026-04-26T13:42:09Z</dcterms:created>
  <dcterms:modified xsi:type="dcterms:W3CDTF">2026-04-26T18:35:46Z</dcterms:modified>
</cp:coreProperties>
</file>